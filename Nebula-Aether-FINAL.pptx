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Bitter Italics" charset="1" panose="02000000000000000000"/>
      <p:regular r:id="rId17"/>
    </p:embeddedFont>
    <p:embeddedFont>
      <p:font typeface="Bitter" charset="1" panose="02000000000000000000"/>
      <p:regular r:id="rId18"/>
    </p:embeddedFont>
    <p:embeddedFont>
      <p:font typeface="Bitter Bold" charset="1" panose="02000000000000000000"/>
      <p:regular r:id="rId20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828925"/>
            <a:ext cx="9445526" cy="177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Nebula Aether – AI-Powered GPU Orchestrator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7439" y="5306914"/>
            <a:ext cx="902032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C2C4B5"/>
                </a:solidFill>
                <a:latin typeface="Bitter Italics"/>
                <a:ea typeface="Bitter Italics"/>
                <a:cs typeface="Bitter Italics"/>
                <a:sym typeface="Bitter Italics"/>
              </a:rPr>
              <a:t>"Turning fragmented GPU resources into a unified smart fabric."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5083225"/>
            <a:ext cx="38100" cy="1091505"/>
            <a:chOff x="0" y="0"/>
            <a:chExt cx="50800" cy="14553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6398419"/>
            <a:ext cx="9445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 self-improving orchestration system that transforms distributed GPU infrastructure into an intelligent, adaptive compute fabric.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602" y="645170"/>
            <a:ext cx="7776803" cy="7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The GPU Utilization Crisis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9602" y="1960661"/>
            <a:ext cx="11402317" cy="592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Critical Inefficiencies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602" y="2700189"/>
            <a:ext cx="11402317" cy="5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GPUs often sit </a:t>
            </a:r>
            <a:r>
              <a:rPr lang="en-US" b="true" sz="1937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underutilized</a:t>
            </a: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→ stranded compute capacity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602" y="3284041"/>
            <a:ext cx="11402317" cy="5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Conflicting jobs</a:t>
            </a: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cause kills, system instability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9602" y="3867894"/>
            <a:ext cx="11402317" cy="5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Static schedulers</a:t>
            </a: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fail to adapt in real-time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417945" y="2055911"/>
            <a:ext cx="3345805" cy="3345805"/>
            <a:chOff x="0" y="0"/>
            <a:chExt cx="3975497" cy="39754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975481" cy="3975481"/>
            </a:xfrm>
            <a:custGeom>
              <a:avLst/>
              <a:gdLst/>
              <a:ahLst/>
              <a:cxnLst/>
              <a:rect r="r" b="b" t="t" l="l"/>
              <a:pathLst>
                <a:path h="3975481" w="3975481">
                  <a:moveTo>
                    <a:pt x="0" y="0"/>
                  </a:moveTo>
                  <a:lnTo>
                    <a:pt x="3975481" y="0"/>
                  </a:lnTo>
                  <a:lnTo>
                    <a:pt x="3975481" y="3975481"/>
                  </a:lnTo>
                  <a:lnTo>
                    <a:pt x="0" y="3975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69602" y="5786438"/>
            <a:ext cx="5309295" cy="72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30-50%³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9602" y="6745338"/>
            <a:ext cx="5309295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GPU idle time in typical data centers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9353" y="5786438"/>
            <a:ext cx="5309295" cy="72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27-33%²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9353" y="6745338"/>
            <a:ext cx="5309295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Performance improvement potential from better scheduling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09102" y="5786438"/>
            <a:ext cx="5309295" cy="72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176 TWh¹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09102" y="6745338"/>
            <a:ext cx="5309295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 data center energy consumption in 2023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9602" y="7820174"/>
            <a:ext cx="16548795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Traditional GPU schedulers struggle with dynamic AI/ML workloads, leading to significant inefficiencies due to their inability to adapt, predict, or optimize resource allocation in real-time.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9602" y="8914060"/>
            <a:ext cx="16548795" cy="69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¹Lawrence Berkeley National Laboratory 2024 | ²George Mason University GPU Scheduling Survey 2025 | ³Harbin Institute of Technology Deep Learning Job Scheduling Research 2024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1364" y="479823"/>
            <a:ext cx="4795986" cy="64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1364" y="1414611"/>
            <a:ext cx="16945272" cy="8726686"/>
            <a:chOff x="0" y="0"/>
            <a:chExt cx="22593697" cy="1163558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2593681" cy="11635613"/>
            </a:xfrm>
            <a:custGeom>
              <a:avLst/>
              <a:gdLst/>
              <a:ahLst/>
              <a:cxnLst/>
              <a:rect r="r" b="b" t="t" l="l"/>
              <a:pathLst>
                <a:path h="11635613" w="22593681">
                  <a:moveTo>
                    <a:pt x="0" y="0"/>
                  </a:moveTo>
                  <a:lnTo>
                    <a:pt x="22593681" y="0"/>
                  </a:lnTo>
                  <a:lnTo>
                    <a:pt x="22593681" y="11635613"/>
                  </a:lnTo>
                  <a:lnTo>
                    <a:pt x="0" y="11635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59049" y="11038434"/>
            <a:ext cx="16657588" cy="36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End-to-end orchestration: from real-time GPU telemetry → intelligent scheduling → reliable execution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1364" y="10879782"/>
            <a:ext cx="28575" cy="738485"/>
            <a:chOff x="0" y="0"/>
            <a:chExt cx="38100" cy="984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984631"/>
            </a:xfrm>
            <a:custGeom>
              <a:avLst/>
              <a:gdLst/>
              <a:ahLst/>
              <a:cxnLst/>
              <a:rect r="r" b="b" t="t" l="l"/>
              <a:pathLst>
                <a:path h="984631" w="38100">
                  <a:moveTo>
                    <a:pt x="0" y="0"/>
                  </a:moveTo>
                  <a:lnTo>
                    <a:pt x="38100" y="0"/>
                  </a:lnTo>
                  <a:lnTo>
                    <a:pt x="38100" y="984631"/>
                  </a:lnTo>
                  <a:lnTo>
                    <a:pt x="0" y="984631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0746" y="526554"/>
            <a:ext cx="6802040" cy="70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AI-Powered GPU Scheduling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0746" y="1689050"/>
            <a:ext cx="3131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0746" y="2100857"/>
            <a:ext cx="9892159" cy="28575"/>
            <a:chOff x="0" y="0"/>
            <a:chExt cx="13189545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89586" cy="38100"/>
            </a:xfrm>
            <a:custGeom>
              <a:avLst/>
              <a:gdLst/>
              <a:ahLst/>
              <a:cxnLst/>
              <a:rect r="r" b="b" t="t" l="l"/>
              <a:pathLst>
                <a:path h="38100" w="13189586">
                  <a:moveTo>
                    <a:pt x="0" y="0"/>
                  </a:moveTo>
                  <a:lnTo>
                    <a:pt x="13189586" y="0"/>
                  </a:lnTo>
                  <a:lnTo>
                    <a:pt x="13189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30746" y="2243286"/>
            <a:ext cx="26102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Telemetry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746" y="2730699"/>
            <a:ext cx="9892159" cy="4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13 GPU metrics: utilization, memory, thermal, clocks, power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0746" y="3410991"/>
            <a:ext cx="3131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30746" y="3822799"/>
            <a:ext cx="9892159" cy="28575"/>
            <a:chOff x="0" y="0"/>
            <a:chExt cx="13189545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89586" cy="38100"/>
            </a:xfrm>
            <a:custGeom>
              <a:avLst/>
              <a:gdLst/>
              <a:ahLst/>
              <a:cxnLst/>
              <a:rect r="r" b="b" t="t" l="l"/>
              <a:pathLst>
                <a:path h="38100" w="13189586">
                  <a:moveTo>
                    <a:pt x="0" y="0"/>
                  </a:moveTo>
                  <a:lnTo>
                    <a:pt x="13189586" y="0"/>
                  </a:lnTo>
                  <a:lnTo>
                    <a:pt x="13189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0746" y="3965227"/>
            <a:ext cx="26102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AI Decision Matrix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0746" y="4452640"/>
            <a:ext cx="9892159" cy="4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6 specialized models for training, inference, compute-heavy workloads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746" y="5132934"/>
            <a:ext cx="3131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30746" y="5544741"/>
            <a:ext cx="9892159" cy="28575"/>
            <a:chOff x="0" y="0"/>
            <a:chExt cx="13189545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89586" cy="38100"/>
            </a:xfrm>
            <a:custGeom>
              <a:avLst/>
              <a:gdLst/>
              <a:ahLst/>
              <a:cxnLst/>
              <a:rect r="r" b="b" t="t" l="l"/>
              <a:pathLst>
                <a:path h="38100" w="13189586">
                  <a:moveTo>
                    <a:pt x="0" y="0"/>
                  </a:moveTo>
                  <a:lnTo>
                    <a:pt x="13189586" y="0"/>
                  </a:lnTo>
                  <a:lnTo>
                    <a:pt x="13189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30746" y="5687169"/>
            <a:ext cx="26102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Smart Assignment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0746" y="6174581"/>
            <a:ext cx="9892159" cy="4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assign_now | queue_short | queue_long decisions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746" y="6854875"/>
            <a:ext cx="29795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0746" y="7266682"/>
            <a:ext cx="9892159" cy="28575"/>
            <a:chOff x="0" y="0"/>
            <a:chExt cx="13189545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89586" cy="38100"/>
            </a:xfrm>
            <a:custGeom>
              <a:avLst/>
              <a:gdLst/>
              <a:ahLst/>
              <a:cxnLst/>
              <a:rect r="r" b="b" t="t" l="l"/>
              <a:pathLst>
                <a:path h="38100" w="13189586">
                  <a:moveTo>
                    <a:pt x="0" y="0"/>
                  </a:moveTo>
                  <a:lnTo>
                    <a:pt x="13189586" y="0"/>
                  </a:lnTo>
                  <a:lnTo>
                    <a:pt x="13189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30746" y="7409110"/>
            <a:ext cx="26102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Continuous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0746" y="7896522"/>
            <a:ext cx="9892159" cy="4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A/B testing with auto-promotion of better models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1141720" y="1774775"/>
            <a:ext cx="6424910" cy="6424910"/>
            <a:chOff x="0" y="0"/>
            <a:chExt cx="8566547" cy="8566547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566531" cy="8566531"/>
            </a:xfrm>
            <a:custGeom>
              <a:avLst/>
              <a:gdLst/>
              <a:ahLst/>
              <a:cxnLst/>
              <a:rect r="r" b="b" t="t" l="l"/>
              <a:pathLst>
                <a:path h="8566531" w="8566531">
                  <a:moveTo>
                    <a:pt x="0" y="0"/>
                  </a:moveTo>
                  <a:lnTo>
                    <a:pt x="8566531" y="0"/>
                  </a:lnTo>
                  <a:lnTo>
                    <a:pt x="8566531" y="8566531"/>
                  </a:lnTo>
                  <a:lnTo>
                    <a:pt x="0" y="8566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43880" y="9091612"/>
            <a:ext cx="16513374" cy="4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"Think of this as a Smart Gearbox for jobs – adapting to GPUs of different health, load, and capabilities."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30746" y="8923436"/>
            <a:ext cx="28575" cy="803672"/>
            <a:chOff x="0" y="0"/>
            <a:chExt cx="38100" cy="10715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1071626"/>
            </a:xfrm>
            <a:custGeom>
              <a:avLst/>
              <a:gdLst/>
              <a:ahLst/>
              <a:cxnLst/>
              <a:rect r="r" b="b" t="t" l="l"/>
              <a:pathLst>
                <a:path h="1071626" w="38100">
                  <a:moveTo>
                    <a:pt x="0" y="0"/>
                  </a:moveTo>
                  <a:lnTo>
                    <a:pt x="38100" y="0"/>
                  </a:lnTo>
                  <a:lnTo>
                    <a:pt x="38100" y="1071626"/>
                  </a:lnTo>
                  <a:lnTo>
                    <a:pt x="0" y="1071626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865882"/>
            <a:ext cx="8526455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Nebula Aether in Action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69176" y="2234207"/>
            <a:ext cx="38100" cy="6357045"/>
            <a:chOff x="0" y="0"/>
            <a:chExt cx="50800" cy="8476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8476107"/>
            </a:xfrm>
            <a:custGeom>
              <a:avLst/>
              <a:gdLst/>
              <a:ahLst/>
              <a:cxnLst/>
              <a:rect r="r" b="b" t="t" l="l"/>
              <a:pathLst>
                <a:path h="847610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8450707"/>
                  </a:lnTo>
                  <a:cubicBezTo>
                    <a:pt x="50800" y="8464676"/>
                    <a:pt x="39370" y="8476107"/>
                    <a:pt x="25400" y="8476107"/>
                  </a:cubicBezTo>
                  <a:cubicBezTo>
                    <a:pt x="11430" y="8476107"/>
                    <a:pt x="0" y="8464676"/>
                    <a:pt x="0" y="8450707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50015" y="2534096"/>
            <a:ext cx="850552" cy="38100"/>
            <a:chOff x="0" y="0"/>
            <a:chExt cx="113407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50237" y="2234207"/>
            <a:ext cx="637877" cy="637877"/>
            <a:chOff x="0" y="0"/>
            <a:chExt cx="850503" cy="8505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956575" y="2325440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6764" y="229344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Real-time Monitoring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6764" y="2849315"/>
            <a:ext cx="770899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GPU telemetry streams to dashboard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50015" y="4265116"/>
            <a:ext cx="850552" cy="38100"/>
            <a:chOff x="0" y="0"/>
            <a:chExt cx="1134070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50237" y="3965227"/>
            <a:ext cx="637877" cy="637878"/>
            <a:chOff x="0" y="0"/>
            <a:chExt cx="850503" cy="8505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956575" y="4056460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6764" y="402446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Job Submission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6764" y="4580335"/>
            <a:ext cx="770899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Orchestrator consults AI Core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50015" y="5996136"/>
            <a:ext cx="850552" cy="38100"/>
            <a:chOff x="0" y="0"/>
            <a:chExt cx="1134070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50237" y="5696247"/>
            <a:ext cx="637877" cy="637878"/>
            <a:chOff x="0" y="0"/>
            <a:chExt cx="850503" cy="8505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956575" y="5787479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86764" y="5755481"/>
            <a:ext cx="4857091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Intelligent Assignment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86764" y="6311354"/>
            <a:ext cx="770899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AI chooses optimal GPU instantly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450015" y="7727156"/>
            <a:ext cx="850552" cy="38100"/>
            <a:chOff x="0" y="0"/>
            <a:chExt cx="113407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850237" y="7427267"/>
            <a:ext cx="637877" cy="637878"/>
            <a:chOff x="0" y="0"/>
            <a:chExt cx="850503" cy="8505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956575" y="7518499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86764" y="748650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Live Execution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86764" y="8042374"/>
            <a:ext cx="770899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Agent runs workload with status feedback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472481"/>
            <a:chOff x="0" y="0"/>
            <a:chExt cx="24384000" cy="329664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296666"/>
            </a:xfrm>
            <a:custGeom>
              <a:avLst/>
              <a:gdLst/>
              <a:ahLst/>
              <a:cxnLst/>
              <a:rect r="r" b="b" t="t" l="l"/>
              <a:pathLst>
                <a:path h="329666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96666"/>
                  </a:lnTo>
                  <a:lnTo>
                    <a:pt x="0" y="32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1" r="0" b="-8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59309" y="2825949"/>
            <a:ext cx="10682996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Expanding the Smart Orchestration Layer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59309" y="3744814"/>
            <a:ext cx="565100" cy="1428750"/>
            <a:chOff x="0" y="0"/>
            <a:chExt cx="753467" cy="1905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53491" cy="1905000"/>
            </a:xfrm>
            <a:custGeom>
              <a:avLst/>
              <a:gdLst/>
              <a:ahLst/>
              <a:cxnLst/>
              <a:rect r="r" b="b" t="t" l="l"/>
              <a:pathLst>
                <a:path h="1905000" w="753491">
                  <a:moveTo>
                    <a:pt x="0" y="0"/>
                  </a:moveTo>
                  <a:lnTo>
                    <a:pt x="753491" y="0"/>
                  </a:lnTo>
                  <a:lnTo>
                    <a:pt x="75349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8" r="3" b="-27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12676" y="3894981"/>
            <a:ext cx="2817465" cy="3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Multi-cloud Orchestration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2676" y="4273600"/>
            <a:ext cx="16216015" cy="36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AWS, Azure, GCP integration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941784" y="5063430"/>
            <a:ext cx="565100" cy="1428750"/>
            <a:chOff x="0" y="0"/>
            <a:chExt cx="753467" cy="19050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53491" cy="1905000"/>
            </a:xfrm>
            <a:custGeom>
              <a:avLst/>
              <a:gdLst/>
              <a:ahLst/>
              <a:cxnLst/>
              <a:rect r="r" b="b" t="t" l="l"/>
              <a:pathLst>
                <a:path h="1905000" w="753491">
                  <a:moveTo>
                    <a:pt x="0" y="0"/>
                  </a:moveTo>
                  <a:lnTo>
                    <a:pt x="753491" y="0"/>
                  </a:lnTo>
                  <a:lnTo>
                    <a:pt x="75349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8" r="3" b="-27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95153" y="5213598"/>
            <a:ext cx="3366117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Predictive Scheduling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5153" y="5592216"/>
            <a:ext cx="15933539" cy="36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Reinforcement learning algorithms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24409" y="6382047"/>
            <a:ext cx="565100" cy="1428750"/>
            <a:chOff x="0" y="0"/>
            <a:chExt cx="753467" cy="19050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53491" cy="1905000"/>
            </a:xfrm>
            <a:custGeom>
              <a:avLst/>
              <a:gdLst/>
              <a:ahLst/>
              <a:cxnLst/>
              <a:rect r="r" b="b" t="t" l="l"/>
              <a:pathLst>
                <a:path h="1905000" w="753491">
                  <a:moveTo>
                    <a:pt x="0" y="0"/>
                  </a:moveTo>
                  <a:lnTo>
                    <a:pt x="753491" y="0"/>
                  </a:lnTo>
                  <a:lnTo>
                    <a:pt x="75349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8" r="3" b="-27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977778" y="6532215"/>
            <a:ext cx="3723323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Edge Computing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7777" y="6910834"/>
            <a:ext cx="15650915" cy="36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Distributed GPU clusters at edge locations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507034" y="7700665"/>
            <a:ext cx="565100" cy="1428750"/>
            <a:chOff x="0" y="0"/>
            <a:chExt cx="753467" cy="19050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53491" cy="1905000"/>
            </a:xfrm>
            <a:custGeom>
              <a:avLst/>
              <a:gdLst/>
              <a:ahLst/>
              <a:cxnLst/>
              <a:rect r="r" b="b" t="t" l="l"/>
              <a:pathLst>
                <a:path h="1905000" w="753491">
                  <a:moveTo>
                    <a:pt x="0" y="0"/>
                  </a:moveTo>
                  <a:lnTo>
                    <a:pt x="753491" y="0"/>
                  </a:lnTo>
                  <a:lnTo>
                    <a:pt x="75349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8" r="3" b="-27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260401" y="7850832"/>
            <a:ext cx="4108500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Advanced Security Layer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0401" y="8229451"/>
            <a:ext cx="15368290" cy="36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Zero-trust GPU access controls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1784" y="9188203"/>
            <a:ext cx="16686907" cy="36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"Nebula Aether is designed to scale with the future of AI infrastructure."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9309" y="9042946"/>
            <a:ext cx="19050" cy="725240"/>
            <a:chOff x="0" y="0"/>
            <a:chExt cx="25400" cy="9669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966978"/>
            </a:xfrm>
            <a:custGeom>
              <a:avLst/>
              <a:gdLst/>
              <a:ahLst/>
              <a:cxnLst/>
              <a:rect r="r" b="b" t="t" l="l"/>
              <a:pathLst>
                <a:path h="966978" w="25400">
                  <a:moveTo>
                    <a:pt x="0" y="0"/>
                  </a:moveTo>
                  <a:lnTo>
                    <a:pt x="25400" y="0"/>
                  </a:lnTo>
                  <a:lnTo>
                    <a:pt x="25400" y="966978"/>
                  </a:lnTo>
                  <a:lnTo>
                    <a:pt x="0" y="966978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7751" y="415826"/>
            <a:ext cx="9587686" cy="5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Nebula Aether – The Software Smart Fabric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7751" y="1402854"/>
            <a:ext cx="8364885" cy="1677144"/>
            <a:chOff x="0" y="0"/>
            <a:chExt cx="11153180" cy="2236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53139" cy="2236216"/>
            </a:xfrm>
            <a:custGeom>
              <a:avLst/>
              <a:gdLst/>
              <a:ahLst/>
              <a:cxnLst/>
              <a:rect r="r" b="b" t="t" l="l"/>
              <a:pathLst>
                <a:path h="2236216" w="11153139">
                  <a:moveTo>
                    <a:pt x="0" y="33020"/>
                  </a:moveTo>
                  <a:cubicBezTo>
                    <a:pt x="0" y="14732"/>
                    <a:pt x="14732" y="0"/>
                    <a:pt x="33020" y="0"/>
                  </a:cubicBezTo>
                  <a:lnTo>
                    <a:pt x="11120120" y="0"/>
                  </a:lnTo>
                  <a:cubicBezTo>
                    <a:pt x="11138408" y="0"/>
                    <a:pt x="11153139" y="14732"/>
                    <a:pt x="11153139" y="33020"/>
                  </a:cubicBezTo>
                  <a:lnTo>
                    <a:pt x="11153139" y="2203196"/>
                  </a:lnTo>
                  <a:cubicBezTo>
                    <a:pt x="11153139" y="2221484"/>
                    <a:pt x="11138408" y="2236216"/>
                    <a:pt x="11120120" y="2236216"/>
                  </a:cubicBezTo>
                  <a:lnTo>
                    <a:pt x="33020" y="2236216"/>
                  </a:lnTo>
                  <a:cubicBezTo>
                    <a:pt x="14732" y="2236216"/>
                    <a:pt x="0" y="2221484"/>
                    <a:pt x="0" y="22031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42801" y="1567904"/>
            <a:ext cx="495151" cy="495151"/>
            <a:chOff x="0" y="0"/>
            <a:chExt cx="660202" cy="6602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146" cy="660146"/>
            </a:xfrm>
            <a:custGeom>
              <a:avLst/>
              <a:gdLst/>
              <a:ahLst/>
              <a:cxnLst/>
              <a:rect r="r" b="b" t="t" l="l"/>
              <a:pathLst>
                <a:path h="660146" w="660146">
                  <a:moveTo>
                    <a:pt x="0" y="330073"/>
                  </a:moveTo>
                  <a:cubicBezTo>
                    <a:pt x="0" y="147828"/>
                    <a:pt x="147828" y="0"/>
                    <a:pt x="330073" y="0"/>
                  </a:cubicBezTo>
                  <a:cubicBezTo>
                    <a:pt x="512318" y="0"/>
                    <a:pt x="660146" y="147828"/>
                    <a:pt x="660146" y="330073"/>
                  </a:cubicBezTo>
                  <a:cubicBezTo>
                    <a:pt x="660146" y="512318"/>
                    <a:pt x="512445" y="660146"/>
                    <a:pt x="330073" y="660146"/>
                  </a:cubicBezTo>
                  <a:cubicBezTo>
                    <a:pt x="147701" y="660146"/>
                    <a:pt x="0" y="512445"/>
                    <a:pt x="0" y="330073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78979" y="1676251"/>
            <a:ext cx="222796" cy="278458"/>
            <a:chOff x="0" y="0"/>
            <a:chExt cx="297062" cy="37127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97053" cy="371221"/>
            </a:xfrm>
            <a:custGeom>
              <a:avLst/>
              <a:gdLst/>
              <a:ahLst/>
              <a:cxnLst/>
              <a:rect r="r" b="b" t="t" l="l"/>
              <a:pathLst>
                <a:path h="371221" w="297053">
                  <a:moveTo>
                    <a:pt x="0" y="0"/>
                  </a:moveTo>
                  <a:lnTo>
                    <a:pt x="297053" y="0"/>
                  </a:lnTo>
                  <a:lnTo>
                    <a:pt x="297053" y="371221"/>
                  </a:lnTo>
                  <a:lnTo>
                    <a:pt x="0" y="371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41" r="-2" b="-45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42801" y="2199531"/>
            <a:ext cx="2063354" cy="28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Maximized Utilization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801" y="2593776"/>
            <a:ext cx="8034784" cy="32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No stranded GPUs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7751" y="3245049"/>
            <a:ext cx="8364885" cy="1677144"/>
            <a:chOff x="0" y="0"/>
            <a:chExt cx="11153180" cy="2236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53139" cy="2236216"/>
            </a:xfrm>
            <a:custGeom>
              <a:avLst/>
              <a:gdLst/>
              <a:ahLst/>
              <a:cxnLst/>
              <a:rect r="r" b="b" t="t" l="l"/>
              <a:pathLst>
                <a:path h="2236216" w="11153139">
                  <a:moveTo>
                    <a:pt x="0" y="33020"/>
                  </a:moveTo>
                  <a:cubicBezTo>
                    <a:pt x="0" y="14732"/>
                    <a:pt x="14732" y="0"/>
                    <a:pt x="33020" y="0"/>
                  </a:cubicBezTo>
                  <a:lnTo>
                    <a:pt x="11120120" y="0"/>
                  </a:lnTo>
                  <a:cubicBezTo>
                    <a:pt x="11138408" y="0"/>
                    <a:pt x="11153139" y="14732"/>
                    <a:pt x="11153139" y="33020"/>
                  </a:cubicBezTo>
                  <a:lnTo>
                    <a:pt x="11153139" y="2203196"/>
                  </a:lnTo>
                  <a:cubicBezTo>
                    <a:pt x="11153139" y="2221484"/>
                    <a:pt x="11138408" y="2236216"/>
                    <a:pt x="11120120" y="2236216"/>
                  </a:cubicBezTo>
                  <a:lnTo>
                    <a:pt x="33020" y="2236216"/>
                  </a:lnTo>
                  <a:cubicBezTo>
                    <a:pt x="14732" y="2236216"/>
                    <a:pt x="0" y="2221484"/>
                    <a:pt x="0" y="22031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42801" y="3410099"/>
            <a:ext cx="495151" cy="495151"/>
            <a:chOff x="0" y="0"/>
            <a:chExt cx="660202" cy="6602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146" cy="660146"/>
            </a:xfrm>
            <a:custGeom>
              <a:avLst/>
              <a:gdLst/>
              <a:ahLst/>
              <a:cxnLst/>
              <a:rect r="r" b="b" t="t" l="l"/>
              <a:pathLst>
                <a:path h="660146" w="660146">
                  <a:moveTo>
                    <a:pt x="0" y="330073"/>
                  </a:moveTo>
                  <a:cubicBezTo>
                    <a:pt x="0" y="147828"/>
                    <a:pt x="147828" y="0"/>
                    <a:pt x="330073" y="0"/>
                  </a:cubicBezTo>
                  <a:cubicBezTo>
                    <a:pt x="512318" y="0"/>
                    <a:pt x="660146" y="147828"/>
                    <a:pt x="660146" y="330073"/>
                  </a:cubicBezTo>
                  <a:cubicBezTo>
                    <a:pt x="660146" y="512318"/>
                    <a:pt x="512445" y="660146"/>
                    <a:pt x="330073" y="660146"/>
                  </a:cubicBezTo>
                  <a:cubicBezTo>
                    <a:pt x="147701" y="660146"/>
                    <a:pt x="0" y="512445"/>
                    <a:pt x="0" y="330073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78979" y="3518446"/>
            <a:ext cx="222796" cy="278458"/>
            <a:chOff x="0" y="0"/>
            <a:chExt cx="297062" cy="37127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97053" cy="371221"/>
            </a:xfrm>
            <a:custGeom>
              <a:avLst/>
              <a:gdLst/>
              <a:ahLst/>
              <a:cxnLst/>
              <a:rect r="r" b="b" t="t" l="l"/>
              <a:pathLst>
                <a:path h="371221" w="297053">
                  <a:moveTo>
                    <a:pt x="0" y="0"/>
                  </a:moveTo>
                  <a:lnTo>
                    <a:pt x="297053" y="0"/>
                  </a:lnTo>
                  <a:lnTo>
                    <a:pt x="297053" y="371221"/>
                  </a:lnTo>
                  <a:lnTo>
                    <a:pt x="0" y="371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1" r="-2" b="-45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42801" y="4041725"/>
            <a:ext cx="2748180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AI-Powered Scheduling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801" y="4435971"/>
            <a:ext cx="8034784" cy="32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Smarter than static policies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7751" y="5087242"/>
            <a:ext cx="8364885" cy="1677144"/>
            <a:chOff x="0" y="0"/>
            <a:chExt cx="11153180" cy="22361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53139" cy="2236216"/>
            </a:xfrm>
            <a:custGeom>
              <a:avLst/>
              <a:gdLst/>
              <a:ahLst/>
              <a:cxnLst/>
              <a:rect r="r" b="b" t="t" l="l"/>
              <a:pathLst>
                <a:path h="2236216" w="11153139">
                  <a:moveTo>
                    <a:pt x="0" y="33020"/>
                  </a:moveTo>
                  <a:cubicBezTo>
                    <a:pt x="0" y="14732"/>
                    <a:pt x="14732" y="0"/>
                    <a:pt x="33020" y="0"/>
                  </a:cubicBezTo>
                  <a:lnTo>
                    <a:pt x="11120120" y="0"/>
                  </a:lnTo>
                  <a:cubicBezTo>
                    <a:pt x="11138408" y="0"/>
                    <a:pt x="11153139" y="14732"/>
                    <a:pt x="11153139" y="33020"/>
                  </a:cubicBezTo>
                  <a:lnTo>
                    <a:pt x="11153139" y="2203196"/>
                  </a:lnTo>
                  <a:cubicBezTo>
                    <a:pt x="11153139" y="2221484"/>
                    <a:pt x="11138408" y="2236216"/>
                    <a:pt x="11120120" y="2236216"/>
                  </a:cubicBezTo>
                  <a:lnTo>
                    <a:pt x="33020" y="2236216"/>
                  </a:lnTo>
                  <a:cubicBezTo>
                    <a:pt x="14732" y="2236216"/>
                    <a:pt x="0" y="2221484"/>
                    <a:pt x="0" y="22031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2801" y="5252294"/>
            <a:ext cx="495151" cy="495151"/>
            <a:chOff x="0" y="0"/>
            <a:chExt cx="660202" cy="6602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146" cy="660146"/>
            </a:xfrm>
            <a:custGeom>
              <a:avLst/>
              <a:gdLst/>
              <a:ahLst/>
              <a:cxnLst/>
              <a:rect r="r" b="b" t="t" l="l"/>
              <a:pathLst>
                <a:path h="660146" w="660146">
                  <a:moveTo>
                    <a:pt x="0" y="330073"/>
                  </a:moveTo>
                  <a:cubicBezTo>
                    <a:pt x="0" y="147828"/>
                    <a:pt x="147828" y="0"/>
                    <a:pt x="330073" y="0"/>
                  </a:cubicBezTo>
                  <a:cubicBezTo>
                    <a:pt x="512318" y="0"/>
                    <a:pt x="660146" y="147828"/>
                    <a:pt x="660146" y="330073"/>
                  </a:cubicBezTo>
                  <a:cubicBezTo>
                    <a:pt x="660146" y="512318"/>
                    <a:pt x="512445" y="660146"/>
                    <a:pt x="330073" y="660146"/>
                  </a:cubicBezTo>
                  <a:cubicBezTo>
                    <a:pt x="147701" y="660146"/>
                    <a:pt x="0" y="512445"/>
                    <a:pt x="0" y="330073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878979" y="5360640"/>
            <a:ext cx="222796" cy="278457"/>
            <a:chOff x="0" y="0"/>
            <a:chExt cx="297062" cy="371277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297053" cy="371221"/>
            </a:xfrm>
            <a:custGeom>
              <a:avLst/>
              <a:gdLst/>
              <a:ahLst/>
              <a:cxnLst/>
              <a:rect r="r" b="b" t="t" l="l"/>
              <a:pathLst>
                <a:path h="371221" w="297053">
                  <a:moveTo>
                    <a:pt x="0" y="0"/>
                  </a:moveTo>
                  <a:lnTo>
                    <a:pt x="297053" y="0"/>
                  </a:lnTo>
                  <a:lnTo>
                    <a:pt x="297053" y="371221"/>
                  </a:lnTo>
                  <a:lnTo>
                    <a:pt x="0" y="371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41" r="-2" b="-456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2801" y="5883920"/>
            <a:ext cx="2063354" cy="28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Conflict Prevention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801" y="6278165"/>
            <a:ext cx="8034784" cy="32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No more job kills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77751" y="6929437"/>
            <a:ext cx="8364885" cy="1677144"/>
            <a:chOff x="0" y="0"/>
            <a:chExt cx="11153180" cy="22361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53139" cy="2236216"/>
            </a:xfrm>
            <a:custGeom>
              <a:avLst/>
              <a:gdLst/>
              <a:ahLst/>
              <a:cxnLst/>
              <a:rect r="r" b="b" t="t" l="l"/>
              <a:pathLst>
                <a:path h="2236216" w="11153139">
                  <a:moveTo>
                    <a:pt x="0" y="33020"/>
                  </a:moveTo>
                  <a:cubicBezTo>
                    <a:pt x="0" y="14732"/>
                    <a:pt x="14732" y="0"/>
                    <a:pt x="33020" y="0"/>
                  </a:cubicBezTo>
                  <a:lnTo>
                    <a:pt x="11120120" y="0"/>
                  </a:lnTo>
                  <a:cubicBezTo>
                    <a:pt x="11138408" y="0"/>
                    <a:pt x="11153139" y="14732"/>
                    <a:pt x="11153139" y="33020"/>
                  </a:cubicBezTo>
                  <a:lnTo>
                    <a:pt x="11153139" y="2203196"/>
                  </a:lnTo>
                  <a:cubicBezTo>
                    <a:pt x="11153139" y="2221484"/>
                    <a:pt x="11138408" y="2236216"/>
                    <a:pt x="11120120" y="2236216"/>
                  </a:cubicBezTo>
                  <a:lnTo>
                    <a:pt x="33020" y="2236216"/>
                  </a:lnTo>
                  <a:cubicBezTo>
                    <a:pt x="14732" y="2236216"/>
                    <a:pt x="0" y="2221484"/>
                    <a:pt x="0" y="22031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42801" y="7094487"/>
            <a:ext cx="495151" cy="495151"/>
            <a:chOff x="0" y="0"/>
            <a:chExt cx="660202" cy="6602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146" cy="660146"/>
            </a:xfrm>
            <a:custGeom>
              <a:avLst/>
              <a:gdLst/>
              <a:ahLst/>
              <a:cxnLst/>
              <a:rect r="r" b="b" t="t" l="l"/>
              <a:pathLst>
                <a:path h="660146" w="660146">
                  <a:moveTo>
                    <a:pt x="0" y="330073"/>
                  </a:moveTo>
                  <a:cubicBezTo>
                    <a:pt x="0" y="147828"/>
                    <a:pt x="147828" y="0"/>
                    <a:pt x="330073" y="0"/>
                  </a:cubicBezTo>
                  <a:cubicBezTo>
                    <a:pt x="512318" y="0"/>
                    <a:pt x="660146" y="147828"/>
                    <a:pt x="660146" y="330073"/>
                  </a:cubicBezTo>
                  <a:cubicBezTo>
                    <a:pt x="660146" y="512318"/>
                    <a:pt x="512445" y="660146"/>
                    <a:pt x="330073" y="660146"/>
                  </a:cubicBezTo>
                  <a:cubicBezTo>
                    <a:pt x="147701" y="660146"/>
                    <a:pt x="0" y="512445"/>
                    <a:pt x="0" y="330073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878979" y="7202835"/>
            <a:ext cx="222796" cy="278457"/>
            <a:chOff x="0" y="0"/>
            <a:chExt cx="297062" cy="371277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297053" cy="371221"/>
            </a:xfrm>
            <a:custGeom>
              <a:avLst/>
              <a:gdLst/>
              <a:ahLst/>
              <a:cxnLst/>
              <a:rect r="r" b="b" t="t" l="l"/>
              <a:pathLst>
                <a:path h="371221" w="297053">
                  <a:moveTo>
                    <a:pt x="0" y="0"/>
                  </a:moveTo>
                  <a:lnTo>
                    <a:pt x="297053" y="0"/>
                  </a:lnTo>
                  <a:lnTo>
                    <a:pt x="297053" y="371221"/>
                  </a:lnTo>
                  <a:lnTo>
                    <a:pt x="0" y="371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1" r="-2" b="-456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42801" y="7726115"/>
            <a:ext cx="2163216" cy="28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Self-Improving System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2801" y="8120360"/>
            <a:ext cx="8034784" cy="32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Learns from every job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5252" y="8735020"/>
            <a:ext cx="8117384" cy="32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 i="true">
                <a:solidFill>
                  <a:srgbClr val="C2C4B5"/>
                </a:solidFill>
                <a:latin typeface="Bitter Italics"/>
                <a:ea typeface="Bitter Italics"/>
                <a:cs typeface="Bitter Italics"/>
                <a:sym typeface="Bitter Italics"/>
              </a:rPr>
              <a:t>"Just as Astera Labs builds the hardware fabric for AI, Nebula Aether builds the orchestration fabric."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77751" y="8792170"/>
            <a:ext cx="19050" cy="264021"/>
            <a:chOff x="0" y="0"/>
            <a:chExt cx="25400" cy="3520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52044"/>
            </a:xfrm>
            <a:custGeom>
              <a:avLst/>
              <a:gdLst/>
              <a:ahLst/>
              <a:cxnLst/>
              <a:rect r="r" b="b" t="t" l="l"/>
              <a:pathLst>
                <a:path h="352044" w="25400">
                  <a:moveTo>
                    <a:pt x="0" y="0"/>
                  </a:moveTo>
                  <a:lnTo>
                    <a:pt x="25400" y="0"/>
                  </a:lnTo>
                  <a:lnTo>
                    <a:pt x="25400" y="352044"/>
                  </a:lnTo>
                  <a:lnTo>
                    <a:pt x="0" y="352044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9354890" y="1402854"/>
            <a:ext cx="5196482" cy="5196482"/>
            <a:chOff x="0" y="0"/>
            <a:chExt cx="11153180" cy="1115318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153140" cy="11153140"/>
            </a:xfrm>
            <a:custGeom>
              <a:avLst/>
              <a:gdLst/>
              <a:ahLst/>
              <a:cxnLst/>
              <a:rect r="r" b="b" t="t" l="l"/>
              <a:pathLst>
                <a:path h="11153140" w="11153140">
                  <a:moveTo>
                    <a:pt x="0" y="0"/>
                  </a:moveTo>
                  <a:lnTo>
                    <a:pt x="11153140" y="0"/>
                  </a:lnTo>
                  <a:lnTo>
                    <a:pt x="11153140" y="11153140"/>
                  </a:lnTo>
                  <a:lnTo>
                    <a:pt x="0" y="11153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354890" y="7008911"/>
            <a:ext cx="8253710" cy="205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9"/>
              </a:lnSpc>
            </a:pPr>
            <a:r>
              <a:rPr lang="en-US" sz="6437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  <a:p>
            <a:pPr algn="l">
              <a:lnSpc>
                <a:spcPts val="8062"/>
              </a:lnSpc>
            </a:pPr>
            <a:r>
              <a:rPr lang="en-US" sz="6437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Questions?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54890" y="11131004"/>
            <a:ext cx="3301454" cy="43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DAG0IhH-Ydo</dc:identifier>
  <dcterms:modified xsi:type="dcterms:W3CDTF">2011-08-01T06:04:30Z</dcterms:modified>
  <cp:revision>1</cp:revision>
  <dc:title>Nebula-Aether-AI-Powered-GPU-Orchestrator.pptx</dc:title>
</cp:coreProperties>
</file>